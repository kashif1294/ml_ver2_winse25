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25"/>
  </p:notesMasterIdLst>
  <p:sldIdLst>
    <p:sldId id="287" r:id="rId2"/>
    <p:sldId id="273" r:id="rId3"/>
    <p:sldId id="274" r:id="rId4"/>
    <p:sldId id="275" r:id="rId5"/>
    <p:sldId id="257" r:id="rId6"/>
    <p:sldId id="277" r:id="rId7"/>
    <p:sldId id="259" r:id="rId8"/>
    <p:sldId id="278" r:id="rId9"/>
    <p:sldId id="279" r:id="rId10"/>
    <p:sldId id="280" r:id="rId11"/>
    <p:sldId id="281" r:id="rId12"/>
    <p:sldId id="282" r:id="rId13"/>
    <p:sldId id="283" r:id="rId14"/>
    <p:sldId id="265" r:id="rId15"/>
    <p:sldId id="286" r:id="rId16"/>
    <p:sldId id="271" r:id="rId17"/>
    <p:sldId id="284" r:id="rId18"/>
    <p:sldId id="285" r:id="rId19"/>
    <p:sldId id="270" r:id="rId20"/>
    <p:sldId id="269" r:id="rId21"/>
    <p:sldId id="276" r:id="rId22"/>
    <p:sldId id="268" r:id="rId23"/>
    <p:sldId id="26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4F2C5-84F3-4F49-BC0E-ACF573EAD765}" v="11" dt="2026-02-24T09:26:08.3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10A8F-EF3D-4B94-B8DD-8A559847BC33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57C7D-E928-4E1B-AAA1-B8117015D9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100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2036B8C-BFB4-4E05-A316-B5B576BE2462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28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93BAF-9FBB-4B9F-814D-348FBAB2803D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1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CD55-C42A-471B-A4E2-B003BF9A552D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4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414-2BA7-46B0-A541-E5203E4721D7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8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08259-83AC-44EF-B412-CC9E00538107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2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2039-14DF-4B60-8F71-BE30183484EC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9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F2A73-B3EE-49FF-BAF7-21FE4994F94D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6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BF7A-23ED-4E33-9F71-97F0989BF1AF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7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ADB0-4ED4-46DD-BD4D-5031F5FF7645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6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D0DA-0F5B-42B6-A9F7-916E744CD6E0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4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F577-1879-468C-BF5E-8BC5E13EA625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965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008-3C66-4CC3-AFFE-4E805E0AED41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990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E92E-F56D-4CDA-A728-5A5DB4EA08BD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334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15BD-1284-4AB0-BA9D-A47B177BE0F0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99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30AC-CB87-415B-8CD4-D3AC780A04EA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3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2A31-B1F6-41A7-91EC-5F4F488C084B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5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15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02E7B-D6C0-4991-9653-3D98474BA6F9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74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B18A-1E0F-916D-00A1-418229D5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47456"/>
            <a:ext cx="8596668" cy="84800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Vertical Acoustic Sensing for Human-Object Differentiation</a:t>
            </a:r>
            <a:endParaRPr lang="en-150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440BF-2168-6BA2-8C69-B6CC0B122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5465"/>
            <a:ext cx="8596668" cy="424589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					Course:  Machine Learning-Wise 25/26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								Group: </a:t>
            </a:r>
            <a:r>
              <a:rPr lang="en-US" b="1" i="1" dirty="0">
                <a:solidFill>
                  <a:schemeClr val="accent1"/>
                </a:solidFill>
                <a:latin typeface="+mj-lt"/>
              </a:rPr>
              <a:t>VER-2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						Lecturer: Dr Andreas Pech</a:t>
            </a:r>
          </a:p>
          <a:p>
            <a:pPr marL="0" indent="0">
              <a:buNone/>
            </a:pPr>
            <a:r>
              <a:rPr lang="en-US" b="1" u="sng" dirty="0">
                <a:latin typeface="+mj-lt"/>
              </a:rPr>
              <a:t>Presented by:</a:t>
            </a:r>
          </a:p>
          <a:p>
            <a:pPr marL="0" indent="0">
              <a:buNone/>
            </a:pPr>
            <a:r>
              <a:rPr lang="de-DE" b="1" dirty="0">
                <a:latin typeface="+mj-lt"/>
              </a:rPr>
              <a:t>Saad Jamil											1427200</a:t>
            </a:r>
          </a:p>
          <a:p>
            <a:pPr marL="0" indent="0">
              <a:buNone/>
            </a:pPr>
            <a:r>
              <a:rPr lang="de-DE" b="1" dirty="0">
                <a:latin typeface="+mj-lt"/>
              </a:rPr>
              <a:t>Kashif Hussain                  								1470503</a:t>
            </a:r>
          </a:p>
          <a:p>
            <a:pPr marL="0" indent="0">
              <a:buNone/>
            </a:pPr>
            <a:r>
              <a:rPr lang="de-DE" b="1" dirty="0">
                <a:latin typeface="+mj-lt"/>
              </a:rPr>
              <a:t>Naila Shaheen 										1439609</a:t>
            </a:r>
          </a:p>
          <a:p>
            <a:pPr marL="0" indent="0">
              <a:buNone/>
            </a:pPr>
            <a:r>
              <a:rPr lang="de-DE" b="1" dirty="0">
                <a:latin typeface="+mj-lt"/>
              </a:rPr>
              <a:t>Fahad Jabbar										1502431</a:t>
            </a:r>
          </a:p>
          <a:p>
            <a:pPr marL="0" indent="0">
              <a:buNone/>
            </a:pPr>
            <a:r>
              <a:rPr lang="de-DE" b="1" dirty="0">
                <a:latin typeface="+mj-lt"/>
              </a:rPr>
              <a:t>Zaka Ahmed											1436851</a:t>
            </a:r>
          </a:p>
          <a:p>
            <a:pPr marL="0" indent="0">
              <a:buNone/>
            </a:pPr>
            <a:endParaRPr lang="en-150" b="1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1045B-D324-F7BE-E42A-12DEECF9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DA80D-77AC-573E-F7F0-D9594CA2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</a:t>
            </a:fld>
            <a:endParaRPr lang="en-US"/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181CEC6D-FDDD-EC07-0F95-CD8B57D13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766" y="230326"/>
            <a:ext cx="1631773" cy="8480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22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A64F-48AD-F782-33D1-563467F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6404"/>
          </a:xfrm>
        </p:spPr>
        <p:txBody>
          <a:bodyPr>
            <a:normAutofit fontScale="90000"/>
          </a:bodyPr>
          <a:lstStyle/>
          <a:p>
            <a:r>
              <a:rPr lang="de-DE" sz="3200" spc="-30" dirty="0"/>
              <a:t>Table</a:t>
            </a:r>
            <a:r>
              <a:rPr lang="de-DE" sz="3200" spc="-110" dirty="0"/>
              <a:t> </a:t>
            </a:r>
            <a:r>
              <a:rPr lang="de-DE" sz="3200" dirty="0"/>
              <a:t>of</a:t>
            </a:r>
            <a:r>
              <a:rPr lang="de-DE" sz="3200" spc="-105" dirty="0"/>
              <a:t> </a:t>
            </a:r>
            <a:r>
              <a:rPr lang="de-DE" sz="3200" spc="-10" dirty="0"/>
              <a:t>Contents:</a:t>
            </a:r>
            <a:endParaRPr lang="en-150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97F4F-F58B-429E-93AC-6F2A3542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2542E-DF8B-9CCA-CBE8-73545B91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F541B4-3C52-DF7B-CA41-97E4A7E41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86005"/>
            <a:ext cx="8596668" cy="4855358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Introduction</a:t>
            </a:r>
          </a:p>
          <a:p>
            <a:pPr algn="just"/>
            <a:r>
              <a:rPr lang="en-US" dirty="0">
                <a:latin typeface="+mj-lt"/>
              </a:rPr>
              <a:t>Background</a:t>
            </a:r>
          </a:p>
          <a:p>
            <a:pPr algn="just"/>
            <a:r>
              <a:rPr lang="en-US" dirty="0">
                <a:latin typeface="+mj-lt"/>
              </a:rPr>
              <a:t>Methodology</a:t>
            </a:r>
          </a:p>
          <a:p>
            <a:pPr algn="just"/>
            <a:r>
              <a:rPr lang="en-US" dirty="0">
                <a:latin typeface="+mj-lt"/>
              </a:rPr>
              <a:t>Hardware Configuration</a:t>
            </a:r>
          </a:p>
          <a:p>
            <a:pPr algn="just"/>
            <a:r>
              <a:rPr lang="en-US" dirty="0">
                <a:latin typeface="+mj-lt"/>
              </a:rPr>
              <a:t>Machine Learning Models</a:t>
            </a:r>
          </a:p>
          <a:p>
            <a:pPr algn="just"/>
            <a:r>
              <a:rPr lang="en-GB" dirty="0">
                <a:latin typeface="+mj-lt"/>
              </a:rPr>
              <a:t>Data Collection &amp; Dataset Size</a:t>
            </a:r>
            <a:endParaRPr lang="en-US" dirty="0">
              <a:latin typeface="+mj-lt"/>
            </a:endParaRPr>
          </a:p>
          <a:p>
            <a:pPr algn="just"/>
            <a:r>
              <a:rPr lang="en-US" dirty="0">
                <a:latin typeface="+mj-lt"/>
              </a:rPr>
              <a:t>Software implementation</a:t>
            </a:r>
          </a:p>
          <a:p>
            <a:pPr algn="just"/>
            <a:r>
              <a:rPr lang="en-US" dirty="0">
                <a:latin typeface="+mj-lt"/>
              </a:rPr>
              <a:t>Implementation</a:t>
            </a:r>
          </a:p>
          <a:p>
            <a:pPr algn="just"/>
            <a:r>
              <a:rPr lang="en-US" dirty="0">
                <a:latin typeface="+mj-lt"/>
              </a:rPr>
              <a:t>Result</a:t>
            </a:r>
          </a:p>
          <a:p>
            <a:pPr algn="just"/>
            <a:r>
              <a:rPr lang="en-US" dirty="0">
                <a:latin typeface="+mj-lt"/>
              </a:rPr>
              <a:t>Conclusion</a:t>
            </a:r>
            <a:endParaRPr lang="en-1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2523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A1CC-A1FE-17C0-D287-814D72A17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5157"/>
            <a:ext cx="8596668" cy="1320800"/>
          </a:xfrm>
        </p:spPr>
        <p:txBody>
          <a:bodyPr>
            <a:normAutofit/>
          </a:bodyPr>
          <a:lstStyle/>
          <a:p>
            <a:r>
              <a:rPr lang="de-DE" sz="3200" spc="-10" dirty="0"/>
              <a:t>Introduction:</a:t>
            </a:r>
            <a:endParaRPr lang="en-150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6D0B-937D-BD53-97FF-76A1C573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25557"/>
            <a:ext cx="8596668" cy="501580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+mj-lt"/>
              </a:rPr>
              <a:t>Robots, drones, and self-driving automobiles are examples of autonomous systems that rely on sensor technologies to sense and engage with their surroundings.</a:t>
            </a:r>
          </a:p>
          <a:p>
            <a:pPr algn="just"/>
            <a:r>
              <a:rPr lang="en-US" dirty="0">
                <a:latin typeface="+mj-lt"/>
              </a:rPr>
              <a:t>Occlusions, lighting circumstances, and privacy issues are some of the restrictions that optical sensors (like cameras) may face.</a:t>
            </a:r>
          </a:p>
          <a:p>
            <a:pPr algn="just"/>
            <a:r>
              <a:rPr lang="en-US" dirty="0">
                <a:latin typeface="+mj-lt"/>
              </a:rPr>
              <a:t>An affordable, reliable, and private substitute for environmental sensing is offered by ultrasonic sensors.</a:t>
            </a:r>
          </a:p>
          <a:p>
            <a:pPr algn="just"/>
            <a:r>
              <a:rPr lang="en-US" dirty="0">
                <a:latin typeface="+mj-lt"/>
              </a:rPr>
              <a:t>They are commonly used for distance measurement and obstacle detection in many autonomous applications.</a:t>
            </a:r>
          </a:p>
          <a:p>
            <a:pPr algn="just"/>
            <a:r>
              <a:rPr lang="en-US" dirty="0">
                <a:latin typeface="+mj-lt"/>
              </a:rPr>
              <a:t>The echo signals reflected from objects contain useful information that can be analyzed for object classification.</a:t>
            </a:r>
          </a:p>
          <a:p>
            <a:pPr algn="just"/>
            <a:r>
              <a:rPr lang="en-US" dirty="0">
                <a:latin typeface="+mj-lt"/>
              </a:rPr>
              <a:t>However, vertically mounted ultrasonic sensors generate complex and irregular echo patterns, making human–object discrimination difficult.</a:t>
            </a:r>
          </a:p>
          <a:p>
            <a:pPr algn="just"/>
            <a:r>
              <a:rPr lang="en-US" dirty="0">
                <a:latin typeface="+mj-lt"/>
              </a:rPr>
              <a:t>Noise, environmental reflections, and posture variations further increase the complexity of echo signals.</a:t>
            </a:r>
          </a:p>
          <a:p>
            <a:pPr algn="just"/>
            <a:r>
              <a:rPr lang="en-US" dirty="0">
                <a:latin typeface="+mj-lt"/>
              </a:rPr>
              <a:t>Machine learning techniques can analyze these complex patterns to improve human–object differentiation.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ECAC42-57B5-C967-D44C-0FC118C2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7EC56-EAEA-C507-48E2-F27F6CF9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1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8ED7-163B-7561-CF9C-D6A4D67C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694099"/>
          </a:xfrm>
        </p:spPr>
        <p:txBody>
          <a:bodyPr>
            <a:normAutofit/>
          </a:bodyPr>
          <a:lstStyle/>
          <a:p>
            <a:r>
              <a:rPr lang="de-DE" sz="3200" spc="-10" dirty="0"/>
              <a:t>Background:</a:t>
            </a:r>
            <a:endParaRPr lang="en-150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DB50-7B31-4486-8B00-CD2FC03AF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60168"/>
            <a:ext cx="8596668" cy="473766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+mj-lt"/>
              </a:rPr>
              <a:t>Robotics, automation, and intelligent systems all make extensive use of ultrasonic sensors for non-contact distance measuring. </a:t>
            </a:r>
          </a:p>
          <a:p>
            <a:pPr algn="just"/>
            <a:r>
              <a:rPr lang="en-US" dirty="0">
                <a:latin typeface="+mj-lt"/>
              </a:rPr>
              <a:t>Ultrasonic sensors operate using the pulse–echo principle, where sound waves are emitted and reflected signals are analyzed.</a:t>
            </a:r>
          </a:p>
          <a:p>
            <a:pPr algn="just"/>
            <a:r>
              <a:rPr lang="en-US" dirty="0">
                <a:latin typeface="+mj-lt"/>
              </a:rPr>
              <a:t>Traditional ultrasonic systems are primarily designed for range estimation and obstacle detection.</a:t>
            </a:r>
          </a:p>
          <a:p>
            <a:pPr algn="just"/>
            <a:r>
              <a:rPr lang="en-US" dirty="0">
                <a:latin typeface="+mj-lt"/>
              </a:rPr>
              <a:t>The shape, material, and structure of objects influence the reflected echo signals.</a:t>
            </a:r>
          </a:p>
          <a:p>
            <a:pPr algn="just"/>
            <a:r>
              <a:rPr lang="en-US" dirty="0">
                <a:latin typeface="+mj-lt"/>
              </a:rPr>
              <a:t>Humans and non-human objects produce different echo patterns due to body geometry and surface characteristics.</a:t>
            </a:r>
          </a:p>
          <a:p>
            <a:pPr algn="just"/>
            <a:r>
              <a:rPr lang="en-US" dirty="0">
                <a:latin typeface="+mj-lt"/>
              </a:rPr>
              <a:t>Most existing ultrasonic sensing systems use horizontally mounted sensors for detection tasks.</a:t>
            </a:r>
          </a:p>
          <a:p>
            <a:pPr algn="just"/>
            <a:r>
              <a:rPr lang="en-US" dirty="0">
                <a:latin typeface="+mj-lt"/>
              </a:rPr>
              <a:t>Vertically oriented ultrasonic sensors introduce new challenges because reflections become more complex and irregular.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0D480-D69C-DA4D-6099-EA4CFC31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82C1-A2C3-58F3-76EA-5F2C0A6C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5B20-95DB-03DE-7B77-856B9CAC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84" y="271450"/>
            <a:ext cx="8596668" cy="1320800"/>
          </a:xfrm>
        </p:spPr>
        <p:txBody>
          <a:bodyPr>
            <a:normAutofit/>
          </a:bodyPr>
          <a:lstStyle/>
          <a:p>
            <a:r>
              <a:rPr lang="de-DE" sz="3200" spc="-10" dirty="0"/>
              <a:t>Methodology: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BBA9-EEDE-C262-ED1A-26DADFD20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923454"/>
            <a:ext cx="8596668" cy="514488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+mj-lt"/>
              </a:rPr>
              <a:t>Create a vertical acoustic detection system with hardware from Red Pitaya.</a:t>
            </a:r>
          </a:p>
          <a:p>
            <a:pPr algn="just"/>
            <a:r>
              <a:rPr lang="en-US" dirty="0">
                <a:latin typeface="+mj-lt"/>
              </a:rPr>
              <a:t>Generate controlled acoustic/ultrasonic signals using Red Pitaya DAC.</a:t>
            </a:r>
          </a:p>
          <a:p>
            <a:pPr algn="just"/>
            <a:r>
              <a:rPr lang="en-US" dirty="0">
                <a:latin typeface="+mj-lt"/>
              </a:rPr>
              <a:t>Transmit signals vertically and capture echo reflections from humans and objects.</a:t>
            </a:r>
          </a:p>
          <a:p>
            <a:pPr algn="just"/>
            <a:r>
              <a:rPr lang="en-US" dirty="0">
                <a:latin typeface="+mj-lt"/>
              </a:rPr>
              <a:t>Acquire reflected signals using a receiver and Red Pitaya ADC.</a:t>
            </a:r>
          </a:p>
          <a:p>
            <a:pPr algn="just"/>
            <a:r>
              <a:rPr lang="en-US" dirty="0">
                <a:latin typeface="+mj-lt"/>
              </a:rPr>
              <a:t>Use signal preparation, such as normalization and noise filtering.</a:t>
            </a:r>
          </a:p>
          <a:p>
            <a:pPr algn="just"/>
            <a:r>
              <a:rPr lang="en-US" dirty="0">
                <a:latin typeface="+mj-lt"/>
              </a:rPr>
              <a:t>Extract important parameters including amplitude, frequency, and time-of-flight.</a:t>
            </a:r>
          </a:p>
          <a:p>
            <a:pPr algn="just"/>
            <a:r>
              <a:rPr lang="en-US" dirty="0">
                <a:latin typeface="+mj-lt"/>
              </a:rPr>
              <a:t>Build a labelled dataset of human and object echo signals.</a:t>
            </a:r>
          </a:p>
          <a:p>
            <a:pPr algn="just"/>
            <a:r>
              <a:rPr lang="en-US" dirty="0">
                <a:latin typeface="+mj-lt"/>
              </a:rPr>
              <a:t>Train a machine learning model to differentiate human and object reflections.</a:t>
            </a:r>
          </a:p>
          <a:p>
            <a:pPr algn="just"/>
            <a:r>
              <a:rPr lang="en-US" dirty="0">
                <a:latin typeface="+mj-lt"/>
              </a:rPr>
              <a:t>Test and validate the model for classification accuracy.</a:t>
            </a:r>
          </a:p>
          <a:p>
            <a:pPr algn="just"/>
            <a:r>
              <a:rPr lang="en-US" dirty="0">
                <a:latin typeface="+mj-lt"/>
              </a:rPr>
              <a:t>Put the real-time human-object distinction system into action.</a:t>
            </a:r>
            <a:endParaRPr lang="en-GB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4C453-3B2B-2544-DF3F-BF5E0838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20710-A303-98BA-D362-D6A0A263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4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7851-0986-74AE-0B3D-4EF3F51C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99" y="320252"/>
            <a:ext cx="8596668" cy="1320800"/>
          </a:xfrm>
        </p:spPr>
        <p:txBody>
          <a:bodyPr>
            <a:normAutofit/>
          </a:bodyPr>
          <a:lstStyle/>
          <a:p>
            <a:r>
              <a:rPr lang="en-GB" sz="3200" dirty="0"/>
              <a:t>Hardware Configuration:</a:t>
            </a:r>
            <a:endParaRPr lang="en-150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62EE5-AC18-9E25-F616-691BADAD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E68F5-BC81-B1D0-FBF5-4C9D194C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52BB87-F066-0753-0A04-E5F36175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65" y="980652"/>
            <a:ext cx="8596668" cy="4695585"/>
          </a:xfrm>
        </p:spPr>
        <p:txBody>
          <a:bodyPr/>
          <a:lstStyle/>
          <a:p>
            <a:pPr algn="just"/>
            <a:r>
              <a:rPr lang="en-US" b="1" dirty="0">
                <a:latin typeface="+mj-lt"/>
              </a:rPr>
              <a:t>Red Pitaya</a:t>
            </a:r>
            <a:r>
              <a:rPr lang="en-US" dirty="0">
                <a:latin typeface="+mj-lt"/>
              </a:rPr>
              <a:t> is used as the core hardware platform for signal generation, acquisition, and processing in the acoustic sensing system. </a:t>
            </a:r>
          </a:p>
          <a:p>
            <a:pPr algn="just"/>
            <a:r>
              <a:rPr lang="de-DE" dirty="0">
                <a:latin typeface="+mj-lt"/>
              </a:rPr>
              <a:t>Dual-core ARM Cortex-A9 with Zynq FPGA.</a:t>
            </a:r>
          </a:p>
          <a:p>
            <a:pPr algn="just"/>
            <a:r>
              <a:rPr lang="en-US" dirty="0">
                <a:latin typeface="+mj-lt"/>
              </a:rPr>
              <a:t>14-bit ADC (125 MS/s) for the capture of echo signals.</a:t>
            </a:r>
          </a:p>
          <a:p>
            <a:pPr algn="just"/>
            <a:r>
              <a:rPr lang="de-DE" dirty="0">
                <a:latin typeface="+mj-lt"/>
              </a:rPr>
              <a:t>14-bit DAC (125 MS/s) for acoustic signal generation.</a:t>
            </a:r>
          </a:p>
          <a:p>
            <a:pPr algn="just"/>
            <a:r>
              <a:rPr lang="de-DE" dirty="0">
                <a:latin typeface="+mj-lt"/>
              </a:rPr>
              <a:t>512 MB RAM for data processing.</a:t>
            </a:r>
          </a:p>
          <a:p>
            <a:pPr algn="just"/>
            <a:r>
              <a:rPr lang="de-DE" dirty="0">
                <a:latin typeface="+mj-lt"/>
              </a:rPr>
              <a:t>Ethernet communication with the host computer.</a:t>
            </a:r>
          </a:p>
          <a:p>
            <a:pPr algn="just"/>
            <a:r>
              <a:rPr lang="de-DE" dirty="0">
                <a:latin typeface="+mj-lt"/>
              </a:rPr>
              <a:t>GPIO interfaces for sensor integration.</a:t>
            </a:r>
          </a:p>
          <a:p>
            <a:pPr algn="just"/>
            <a:r>
              <a:rPr lang="de-DE" dirty="0">
                <a:latin typeface="+mj-lt"/>
              </a:rPr>
              <a:t>Linux-based platform for signal processing and ML implementation.</a:t>
            </a:r>
          </a:p>
          <a:p>
            <a:pPr algn="just"/>
            <a:r>
              <a:rPr lang="en-US" dirty="0"/>
              <a:t>Ultrasonic transducer connected for </a:t>
            </a:r>
            <a:r>
              <a:rPr lang="en-US" b="1" dirty="0"/>
              <a:t>signal transmission.</a:t>
            </a:r>
            <a:endParaRPr lang="en-15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9970B2-1675-96DD-736D-B5CCBA66A8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8" b="9776"/>
          <a:stretch>
            <a:fillRect/>
          </a:stretch>
        </p:blipFill>
        <p:spPr bwMode="auto">
          <a:xfrm>
            <a:off x="6775010" y="1385292"/>
            <a:ext cx="2649855" cy="26733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3837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2D35-35AD-6BA4-12CE-0E1F2C131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05" y="310836"/>
            <a:ext cx="8596668" cy="1320800"/>
          </a:xfrm>
        </p:spPr>
        <p:txBody>
          <a:bodyPr>
            <a:normAutofit/>
          </a:bodyPr>
          <a:lstStyle/>
          <a:p>
            <a:r>
              <a:rPr lang="en-GB" sz="3200" dirty="0"/>
              <a:t>Machine Learning 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D1D9C-A6DA-D9A2-1975-607A7B972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05" y="971236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+mj-lt"/>
              </a:rPr>
              <a:t>The following machine learning models are utilized in this project to analyze acoustic signals and enable effective human–object differentiation:</a:t>
            </a:r>
          </a:p>
          <a:p>
            <a:pPr marL="0" indent="0" algn="just">
              <a:buNone/>
            </a:pPr>
            <a:endParaRPr lang="en-GB" dirty="0">
              <a:latin typeface="+mj-lt"/>
            </a:endParaRPr>
          </a:p>
          <a:p>
            <a:pPr algn="just"/>
            <a:r>
              <a:rPr lang="en-GB" dirty="0">
                <a:latin typeface="+mj-lt"/>
              </a:rPr>
              <a:t>Support Vector Machines (SVM)</a:t>
            </a:r>
          </a:p>
          <a:p>
            <a:pPr algn="just"/>
            <a:r>
              <a:rPr lang="en-GB" dirty="0">
                <a:latin typeface="+mj-lt"/>
              </a:rPr>
              <a:t>Random Forest (RF)</a:t>
            </a:r>
          </a:p>
          <a:p>
            <a:pPr algn="just"/>
            <a:r>
              <a:rPr lang="en-GB" dirty="0">
                <a:latin typeface="+mj-lt"/>
              </a:rPr>
              <a:t>Convolutional Neural Networks (CNN)</a:t>
            </a:r>
          </a:p>
          <a:p>
            <a:pPr algn="just"/>
            <a:r>
              <a:rPr lang="en-GB" dirty="0">
                <a:latin typeface="+mj-lt"/>
              </a:rPr>
              <a:t>Temporal Convolutional Networks (TCN)</a:t>
            </a:r>
          </a:p>
          <a:p>
            <a:pPr algn="just"/>
            <a:r>
              <a:rPr lang="en-GB" dirty="0">
                <a:latin typeface="+mj-lt"/>
              </a:rPr>
              <a:t>Convolutional–Transformer Hybrid Models</a:t>
            </a:r>
          </a:p>
          <a:p>
            <a:pPr algn="just"/>
            <a:r>
              <a:rPr lang="en-GB" dirty="0">
                <a:latin typeface="+mj-lt"/>
              </a:rPr>
              <a:t>Time Series Transformer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ABA5-D67E-183E-6800-10075432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1380B-55DD-2215-361D-2F500889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3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4126-0738-97EF-2F7F-863D265A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85" y="322869"/>
            <a:ext cx="8596668" cy="757473"/>
          </a:xfrm>
        </p:spPr>
        <p:txBody>
          <a:bodyPr>
            <a:normAutofit/>
          </a:bodyPr>
          <a:lstStyle/>
          <a:p>
            <a:r>
              <a:rPr lang="en-GB" sz="3200" dirty="0"/>
              <a:t>Support Vector Machines (SVM):</a:t>
            </a:r>
            <a:endParaRPr lang="en-150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B3074-5DA9-9347-7B35-BCA12A71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50" y="963180"/>
            <a:ext cx="8596668" cy="4758959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A supervised machine learning approach for pattern detection and classification is called Support Vector Machine (SVM).</a:t>
            </a:r>
          </a:p>
          <a:p>
            <a:pPr algn="just"/>
            <a:r>
              <a:rPr lang="en-US" dirty="0">
                <a:latin typeface="+mj-lt"/>
              </a:rPr>
              <a:t>It operates by determining the best hyperplane to divide data points into distinct classes.</a:t>
            </a:r>
          </a:p>
          <a:p>
            <a:pPr algn="just"/>
            <a:r>
              <a:rPr lang="en-US" dirty="0">
                <a:latin typeface="+mj-lt"/>
              </a:rPr>
              <a:t>Support vectors, or the crucial data points nearest to the decision boundary, are the algorithm's main focus.</a:t>
            </a:r>
          </a:p>
          <a:p>
            <a:pPr algn="just"/>
            <a:r>
              <a:rPr lang="en-US" dirty="0">
                <a:latin typeface="+mj-lt"/>
              </a:rPr>
              <a:t>To increase classification accuracy, SVM seeks to maximize the margin between several classes.</a:t>
            </a:r>
          </a:p>
          <a:p>
            <a:pPr algn="just"/>
            <a:r>
              <a:rPr lang="en-US" dirty="0">
                <a:latin typeface="+mj-lt"/>
              </a:rPr>
              <a:t>It works well with small datasets and high-dimensional data.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B6F85-9D4B-05AE-F25E-595644AC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E0709-B1F9-7BA4-216C-EE01A6B4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General architecture of a support vector maching (SVM) model according to [55].">
            <a:extLst>
              <a:ext uri="{FF2B5EF4-FFF2-40B4-BE49-F238E27FC236}">
                <a16:creationId xmlns:a16="http://schemas.microsoft.com/office/drawing/2014/main" id="{C69ACC95-0D85-C3B7-A32B-411BD1CEE7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220" y="4124735"/>
            <a:ext cx="3645275" cy="15974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7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47D-1C96-D0F0-E00F-75E42F1E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2564"/>
            <a:ext cx="8596668" cy="675992"/>
          </a:xfrm>
        </p:spPr>
        <p:txBody>
          <a:bodyPr>
            <a:normAutofit/>
          </a:bodyPr>
          <a:lstStyle/>
          <a:p>
            <a:r>
              <a:rPr lang="en-GB" sz="3200" dirty="0"/>
              <a:t>Random Forest (RF):</a:t>
            </a:r>
            <a:endParaRPr lang="en-150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E6E3A-D5A8-EF92-464B-F20388CA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51115"/>
            <a:ext cx="8596668" cy="4755770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A supervised machine learning technique for classification and regression tasks is called Random Forest (RF).</a:t>
            </a:r>
          </a:p>
          <a:p>
            <a:pPr algn="just"/>
            <a:r>
              <a:rPr lang="en-US" dirty="0">
                <a:latin typeface="+mj-lt"/>
              </a:rPr>
              <a:t>It works by creating multiple decision trees during training and combining their results.</a:t>
            </a:r>
          </a:p>
          <a:p>
            <a:pPr algn="just"/>
            <a:r>
              <a:rPr lang="en-US" dirty="0">
                <a:latin typeface="+mj-lt"/>
              </a:rPr>
              <a:t>Each tree is trained on random subsets of the data and features, which improves model diversity.</a:t>
            </a:r>
          </a:p>
          <a:p>
            <a:pPr algn="just"/>
            <a:r>
              <a:rPr lang="en-US" dirty="0">
                <a:latin typeface="+mj-lt"/>
              </a:rPr>
              <a:t>Either majority voting (classification) or averaging (regression) is used to arrive at the final forecast.</a:t>
            </a:r>
          </a:p>
          <a:p>
            <a:pPr algn="just"/>
            <a:r>
              <a:rPr lang="en-US" dirty="0">
                <a:latin typeface="+mj-lt"/>
              </a:rPr>
              <a:t>Overfitting is lessened and overall prediction accuracy is increased via Random Forest.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340F9-7717-3A51-472F-18707B12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36286-81EC-1C6A-275E-E30DD2C0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0AEB65-AC36-8065-B456-320484DB69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338" y="3966817"/>
            <a:ext cx="2926715" cy="2074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527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2CA0-9F4A-8F04-5A31-622AC73B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163" y="442142"/>
            <a:ext cx="8596668" cy="775580"/>
          </a:xfrm>
        </p:spPr>
        <p:txBody>
          <a:bodyPr>
            <a:normAutofit fontScale="90000"/>
          </a:bodyPr>
          <a:lstStyle/>
          <a:p>
            <a:r>
              <a:rPr lang="en-GB" dirty="0"/>
              <a:t>Convolutional Neural Networks (CNN):</a:t>
            </a:r>
            <a:br>
              <a:rPr lang="en-GB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E7561-AC9C-2535-CD4A-D87A1630A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63" y="1039033"/>
            <a:ext cx="8596668" cy="4846305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Convolutional Neural Networks (CNN) are deep learning models designed for automatic feature extraction and pattern recognition.</a:t>
            </a:r>
          </a:p>
          <a:p>
            <a:pPr algn="just"/>
            <a:r>
              <a:rPr lang="en-US" dirty="0">
                <a:latin typeface="+mj-lt"/>
              </a:rPr>
              <a:t>CNNs use convolution layers to detect important features from input data such as patterns or signal structures.</a:t>
            </a:r>
          </a:p>
          <a:p>
            <a:pPr algn="just"/>
            <a:r>
              <a:rPr lang="en-US" dirty="0">
                <a:latin typeface="+mj-lt"/>
              </a:rPr>
              <a:t>Pooling layers reduce data size and help retain the most important information.</a:t>
            </a:r>
          </a:p>
          <a:p>
            <a:pPr algn="just"/>
            <a:r>
              <a:rPr lang="en-US" dirty="0">
                <a:latin typeface="+mj-lt"/>
              </a:rPr>
              <a:t>The extracted features are passed to fully connected layers for final classification.</a:t>
            </a:r>
          </a:p>
          <a:p>
            <a:pPr algn="just"/>
            <a:r>
              <a:rPr lang="en-US" dirty="0">
                <a:latin typeface="+mj-lt"/>
              </a:rPr>
              <a:t>CNNs are very good at analyzing spectrograms, signals, and images.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9AA16-8F7E-132C-C4EA-9BCFA6F8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D16D9-B8C9-9A28-2C45-10B8ACF4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Schematic of Convolutional Neural Network (CNN).">
            <a:extLst>
              <a:ext uri="{FF2B5EF4-FFF2-40B4-BE49-F238E27FC236}">
                <a16:creationId xmlns:a16="http://schemas.microsoft.com/office/drawing/2014/main" id="{DFAEB35C-AC51-ACC1-9CBC-B70D78B938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287" y="3791038"/>
            <a:ext cx="3440421" cy="19382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163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909A-ADFD-BEDE-19C2-BA6C6A8E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59" y="371046"/>
            <a:ext cx="8596668" cy="657885"/>
          </a:xfrm>
        </p:spPr>
        <p:txBody>
          <a:bodyPr>
            <a:normAutofit fontScale="90000"/>
          </a:bodyPr>
          <a:lstStyle/>
          <a:p>
            <a:r>
              <a:rPr lang="en-GB" dirty="0"/>
              <a:t>Temporal Convolutional Networks (TCN):</a:t>
            </a:r>
            <a:br>
              <a:rPr lang="en-GB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FD8B-7C66-2FD7-0139-A97FB251F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959" y="1019009"/>
            <a:ext cx="8596668" cy="4773877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Temporal Convolutional Networks (TCN) are deep learning models designed for time-series and sequential data analysis.</a:t>
            </a:r>
          </a:p>
          <a:p>
            <a:pPr algn="just"/>
            <a:r>
              <a:rPr lang="en-US" dirty="0">
                <a:latin typeface="+mj-lt"/>
              </a:rPr>
              <a:t>By using causal convolutions, TCN makes sure that predictions are solely based on historical data.</a:t>
            </a:r>
          </a:p>
          <a:p>
            <a:pPr algn="just"/>
            <a:r>
              <a:rPr lang="en-US" dirty="0">
                <a:latin typeface="+mj-lt"/>
              </a:rPr>
              <a:t>It effectively captures long-range temporal dependencies by using dilated convolutions.</a:t>
            </a:r>
          </a:p>
          <a:p>
            <a:pPr algn="just"/>
            <a:r>
              <a:rPr lang="en-US" dirty="0">
                <a:latin typeface="+mj-lt"/>
              </a:rPr>
              <a:t>Residual connections help maintain stable training and improve learning performance.</a:t>
            </a:r>
          </a:p>
          <a:p>
            <a:pPr algn="just"/>
            <a:r>
              <a:rPr lang="en-US" dirty="0">
                <a:latin typeface="+mj-lt"/>
              </a:rPr>
              <a:t>TCN provides parallel computation and faster training compared to traditional recurrent models.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4B617-7F8F-78CC-F791-D7834988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08031-3375-414C-8384-58E732D0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55217C-E8FA-344E-3826-0331864130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7" r="3164"/>
          <a:stretch>
            <a:fillRect/>
          </a:stretch>
        </p:blipFill>
        <p:spPr bwMode="auto">
          <a:xfrm>
            <a:off x="2582268" y="4012875"/>
            <a:ext cx="4959269" cy="18261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603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EEF9-BA9D-3A94-BD47-19D2F3BD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59" y="388106"/>
            <a:ext cx="8596668" cy="721259"/>
          </a:xfrm>
        </p:spPr>
        <p:txBody>
          <a:bodyPr>
            <a:normAutofit fontScale="90000"/>
          </a:bodyPr>
          <a:lstStyle/>
          <a:p>
            <a:r>
              <a:rPr lang="de-DE" dirty="0"/>
              <a:t>Convolutional–Transformer Hybrid Model:</a:t>
            </a:r>
            <a:br>
              <a:rPr lang="en-GB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CD76-F298-3659-E99F-EA4B56F90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05847"/>
            <a:ext cx="8596668" cy="4846305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Combine Convolutional Neural Networks (CNNs) with Transformer architectures.</a:t>
            </a:r>
          </a:p>
          <a:p>
            <a:pPr algn="just"/>
            <a:r>
              <a:rPr lang="en-US" dirty="0">
                <a:latin typeface="+mj-lt"/>
              </a:rPr>
              <a:t>CNN layers extract local spatial features from acoustic signal representations (e.g., spectrograms).</a:t>
            </a:r>
          </a:p>
          <a:p>
            <a:pPr algn="just"/>
            <a:r>
              <a:rPr lang="en-US" dirty="0">
                <a:latin typeface="+mj-lt"/>
              </a:rPr>
              <a:t>Transformer modules apply self-attention mechanisms to capture global relationships and long-range dependencies.</a:t>
            </a:r>
          </a:p>
          <a:p>
            <a:pPr algn="just"/>
            <a:r>
              <a:rPr lang="en-US" dirty="0">
                <a:latin typeface="+mj-lt"/>
              </a:rPr>
              <a:t>Improves feature representation and model performance by leveraging both local and global information.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92158-0DD4-7289-65C6-665C6619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20CAD-8D4B-6AE4-75BA-19417896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B73B75-821C-CF52-9E96-38D9695E8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390" y="3428999"/>
            <a:ext cx="4684823" cy="197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7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49DC-BED1-9EEF-63E2-2A439919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99" y="337019"/>
            <a:ext cx="8596668" cy="675992"/>
          </a:xfrm>
        </p:spPr>
        <p:txBody>
          <a:bodyPr>
            <a:normAutofit fontScale="90000"/>
          </a:bodyPr>
          <a:lstStyle/>
          <a:p>
            <a:r>
              <a:rPr lang="en-GB" dirty="0"/>
              <a:t>Time Series Transformer:</a:t>
            </a:r>
            <a:br>
              <a:rPr lang="en-GB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B4BFA-4F8E-D0C2-D88A-0A39B256F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6951"/>
            <a:ext cx="8596668" cy="4864412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Time Series Transformer Models are deep learning architectures designed to analyze and predict time-series data.</a:t>
            </a:r>
          </a:p>
          <a:p>
            <a:pPr algn="just"/>
            <a:r>
              <a:rPr lang="en-US" dirty="0">
                <a:latin typeface="+mj-lt"/>
              </a:rPr>
              <a:t>They use self-attention mechanisms to capture relationships between different time steps in a sequence.</a:t>
            </a:r>
          </a:p>
          <a:p>
            <a:pPr algn="just"/>
            <a:r>
              <a:rPr lang="en-US" dirty="0">
                <a:latin typeface="+mj-lt"/>
              </a:rPr>
              <a:t>Able to learn long-range temporal dependencies and complex patterns in sequential data.</a:t>
            </a:r>
          </a:p>
          <a:p>
            <a:pPr algn="just"/>
            <a:r>
              <a:rPr lang="en-US" dirty="0">
                <a:latin typeface="+mj-lt"/>
              </a:rPr>
              <a:t>Use positional encoding to preserve the order of time steps in the input sequence.</a:t>
            </a:r>
          </a:p>
          <a:p>
            <a:pPr algn="just"/>
            <a:r>
              <a:rPr lang="en-US" dirty="0">
                <a:latin typeface="+mj-lt"/>
              </a:rPr>
              <a:t>Allow parallel processing of sequence data, improving computational efficiency.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E02C3-006A-C9F3-82F5-33885B10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570B4-7A33-33DC-2B21-20C0AAC1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C698E-3AE4-C38B-B312-39F21C679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892" y="4031977"/>
            <a:ext cx="3773697" cy="191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18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6DCA-0D60-09F3-0CB5-1CB60401C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5842"/>
          </a:xfrm>
        </p:spPr>
        <p:txBody>
          <a:bodyPr>
            <a:normAutofit/>
          </a:bodyPr>
          <a:lstStyle/>
          <a:p>
            <a:r>
              <a:rPr lang="en-GB" sz="3200" dirty="0"/>
              <a:t>Data Collection &amp; Dataset Size: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AC8B-BE5E-2176-0C23-FB314D5D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1356491"/>
            <a:ext cx="4410718" cy="3880773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+mj-lt"/>
              </a:rPr>
              <a:t>Staged Acquisition: Incremental sessions to capture environmental variability</a:t>
            </a:r>
            <a:endParaRPr lang="en-001" dirty="0">
              <a:latin typeface="+mj-lt"/>
            </a:endParaRPr>
          </a:p>
          <a:p>
            <a:pPr algn="just"/>
            <a:r>
              <a:rPr lang="en-GB" dirty="0">
                <a:latin typeface="+mj-lt"/>
              </a:rPr>
              <a:t>Dataset Growth:</a:t>
            </a:r>
            <a:endParaRPr lang="en-001" dirty="0">
              <a:latin typeface="+mj-lt"/>
            </a:endParaRPr>
          </a:p>
          <a:p>
            <a:pPr marL="0" indent="0" algn="just">
              <a:buNone/>
            </a:pPr>
            <a:r>
              <a:rPr lang="en-GB" b="1" dirty="0">
                <a:latin typeface="+mj-lt"/>
              </a:rPr>
              <a:t>Initial Phase:</a:t>
            </a:r>
            <a:r>
              <a:rPr lang="en-GB" dirty="0">
                <a:latin typeface="+mj-lt"/>
              </a:rPr>
              <a:t> </a:t>
            </a:r>
            <a:r>
              <a:rPr lang="en-001" dirty="0">
                <a:latin typeface="+mj-lt"/>
              </a:rPr>
              <a:t>1</a:t>
            </a:r>
            <a:r>
              <a:rPr lang="en-US" dirty="0">
                <a:latin typeface="+mj-lt"/>
              </a:rPr>
              <a:t>500</a:t>
            </a:r>
            <a:r>
              <a:rPr lang="en-001" dirty="0">
                <a:latin typeface="+mj-lt"/>
              </a:rPr>
              <a:t> </a:t>
            </a:r>
            <a:r>
              <a:rPr lang="en-GB" dirty="0">
                <a:latin typeface="+mj-lt"/>
              </a:rPr>
              <a:t>baseline samples.</a:t>
            </a:r>
            <a:endParaRPr lang="en-001" dirty="0">
              <a:latin typeface="+mj-lt"/>
            </a:endParaRPr>
          </a:p>
          <a:p>
            <a:pPr marL="0" indent="0" algn="just">
              <a:buNone/>
            </a:pPr>
            <a:r>
              <a:rPr lang="en-GB" b="1" dirty="0">
                <a:latin typeface="+mj-lt"/>
              </a:rPr>
              <a:t>Final Stage:</a:t>
            </a:r>
            <a:r>
              <a:rPr lang="en-GB" dirty="0">
                <a:latin typeface="+mj-lt"/>
              </a:rPr>
              <a:t> ~</a:t>
            </a:r>
            <a:r>
              <a:rPr lang="en-001" dirty="0">
                <a:latin typeface="+mj-lt"/>
              </a:rPr>
              <a:t>50000</a:t>
            </a:r>
            <a:r>
              <a:rPr lang="en-GB" dirty="0">
                <a:latin typeface="+mj-lt"/>
              </a:rPr>
              <a:t> total measurements.</a:t>
            </a:r>
            <a:endParaRPr lang="en-001" dirty="0">
              <a:latin typeface="+mj-lt"/>
            </a:endParaRPr>
          </a:p>
          <a:p>
            <a:pPr algn="just"/>
            <a:r>
              <a:rPr lang="en-GB" dirty="0">
                <a:latin typeface="+mj-lt"/>
              </a:rPr>
              <a:t>Echo Characteristics: Human reflections appear broader and irregular, whereas objects yield sharper reflections.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BF86B8-C3DC-16D1-480D-EFF91379A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050" y="1356491"/>
            <a:ext cx="4410718" cy="384481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244F6-FE7F-D1B3-8607-A5241C97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51925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Frankfurt University of Applied Sciences 2025/26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59B7B-2E34-9216-6007-3CA4C5D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9ABCAEC-7D34-E549-A96E-FCEDAADBE4B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7C62F8-8862-1101-D261-A031456416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614"/>
          <a:stretch>
            <a:fillRect/>
          </a:stretch>
        </p:blipFill>
        <p:spPr>
          <a:xfrm>
            <a:off x="1110305" y="5352358"/>
            <a:ext cx="6802424" cy="5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2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A875-25F4-C11B-E6CF-18DE7C61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4" y="235390"/>
            <a:ext cx="8596668" cy="581248"/>
          </a:xfrm>
        </p:spPr>
        <p:txBody>
          <a:bodyPr>
            <a:normAutofit fontScale="90000"/>
          </a:bodyPr>
          <a:lstStyle/>
          <a:p>
            <a:r>
              <a:rPr lang="de-DE" dirty="0">
                <a:cs typeface="Times New Roman"/>
              </a:rPr>
              <a:t>Software</a:t>
            </a:r>
            <a:r>
              <a:rPr lang="de-DE" spc="-65" dirty="0">
                <a:cs typeface="Times New Roman"/>
              </a:rPr>
              <a:t> </a:t>
            </a:r>
            <a:r>
              <a:rPr lang="de-DE" spc="-10" dirty="0">
                <a:cs typeface="Times New Roman"/>
              </a:rPr>
              <a:t>Implementation: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36CB1-4BC9-A698-B906-85361768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3" y="816639"/>
            <a:ext cx="8853603" cy="522472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>
                <a:latin typeface="+mj-lt"/>
              </a:rPr>
              <a:t>To reproduce the experiments:</a:t>
            </a:r>
            <a:endParaRPr lang="en-150" dirty="0">
              <a:latin typeface="+mj-lt"/>
            </a:endParaRPr>
          </a:p>
          <a:p>
            <a:pPr lvl="0" algn="just"/>
            <a:r>
              <a:rPr lang="en-US" dirty="0">
                <a:latin typeface="+mj-lt"/>
              </a:rPr>
              <a:t>Ensure the Python environment provides at least:</a:t>
            </a:r>
            <a:endParaRPr lang="en-150" dirty="0">
              <a:latin typeface="+mj-lt"/>
            </a:endParaRPr>
          </a:p>
          <a:p>
            <a:pPr lvl="1" algn="just"/>
            <a:r>
              <a:rPr lang="en-US" b="1" i="1" dirty="0">
                <a:latin typeface="+mj-lt"/>
              </a:rPr>
              <a:t>pandas, </a:t>
            </a:r>
            <a:r>
              <a:rPr lang="en-US" b="1" i="1" dirty="0" err="1">
                <a:latin typeface="+mj-lt"/>
              </a:rPr>
              <a:t>numpy</a:t>
            </a:r>
            <a:r>
              <a:rPr lang="en-US" b="1" i="1" dirty="0">
                <a:latin typeface="+mj-lt"/>
              </a:rPr>
              <a:t>, scikit-learn, matplotlib, </a:t>
            </a:r>
            <a:r>
              <a:rPr lang="en-US" b="1" i="1" dirty="0" err="1">
                <a:latin typeface="+mj-lt"/>
              </a:rPr>
              <a:t>tensorflow</a:t>
            </a:r>
            <a:r>
              <a:rPr lang="en-US" b="1" i="1" dirty="0">
                <a:latin typeface="+mj-lt"/>
              </a:rPr>
              <a:t> (with </a:t>
            </a:r>
            <a:r>
              <a:rPr lang="en-US" b="1" i="1" dirty="0" err="1">
                <a:latin typeface="+mj-lt"/>
              </a:rPr>
              <a:t>Keras</a:t>
            </a:r>
            <a:r>
              <a:rPr lang="en-US" b="1" i="1" dirty="0">
                <a:latin typeface="+mj-lt"/>
              </a:rPr>
              <a:t>), and </a:t>
            </a:r>
            <a:r>
              <a:rPr lang="en-US" b="1" i="1" dirty="0" err="1">
                <a:latin typeface="+mj-lt"/>
              </a:rPr>
              <a:t>openpyxl</a:t>
            </a:r>
            <a:r>
              <a:rPr lang="en-US" b="1" i="1" dirty="0">
                <a:latin typeface="+mj-lt"/>
              </a:rPr>
              <a:t>.</a:t>
            </a:r>
            <a:endParaRPr lang="en-150" b="1" i="1" dirty="0">
              <a:latin typeface="+mj-lt"/>
            </a:endParaRPr>
          </a:p>
          <a:p>
            <a:pPr lvl="0" algn="just"/>
            <a:r>
              <a:rPr lang="en-US" dirty="0">
                <a:latin typeface="+mj-lt"/>
              </a:rPr>
              <a:t>Open </a:t>
            </a:r>
            <a:r>
              <a:rPr lang="en-US" dirty="0" err="1">
                <a:latin typeface="+mj-lt"/>
              </a:rPr>
              <a:t>VER_pipeline.ipynb</a:t>
            </a:r>
            <a:r>
              <a:rPr lang="en-US" dirty="0">
                <a:latin typeface="+mj-lt"/>
              </a:rPr>
              <a:t> in </a:t>
            </a:r>
            <a:r>
              <a:rPr lang="en-US" dirty="0" err="1">
                <a:latin typeface="+mj-lt"/>
              </a:rPr>
              <a:t>JupyterLab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Jupyter</a:t>
            </a:r>
            <a:r>
              <a:rPr lang="en-US" dirty="0">
                <a:latin typeface="+mj-lt"/>
              </a:rPr>
              <a:t> Notebook, VS Code, or Cursor.</a:t>
            </a:r>
            <a:endParaRPr lang="en-150" dirty="0">
              <a:latin typeface="+mj-lt"/>
            </a:endParaRPr>
          </a:p>
          <a:p>
            <a:pPr lvl="0" algn="just"/>
            <a:r>
              <a:rPr lang="en-US" dirty="0">
                <a:latin typeface="+mj-lt"/>
              </a:rPr>
              <a:t>Execute the cells sequentially under the section </a:t>
            </a:r>
            <a:r>
              <a:rPr lang="en-US" b="1" dirty="0">
                <a:latin typeface="+mj-lt"/>
              </a:rPr>
              <a:t>“VER </a:t>
            </a:r>
            <a:r>
              <a:rPr lang="en-US" b="1" dirty="0" err="1">
                <a:latin typeface="+mj-lt"/>
              </a:rPr>
              <a:t>Human+Object</a:t>
            </a:r>
            <a:r>
              <a:rPr lang="en-US" b="1" dirty="0">
                <a:latin typeface="+mj-lt"/>
              </a:rPr>
              <a:t> Preparation Pipeline (Dual‑Class)”</a:t>
            </a:r>
            <a:r>
              <a:rPr lang="en-US" dirty="0">
                <a:latin typeface="+mj-lt"/>
              </a:rPr>
              <a:t>, covering: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Data loading, concatenation, and header application.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Column selection and construction of X and y.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Train/test split and feature scaling.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Training and evaluation of ML Models:</a:t>
            </a:r>
            <a:endParaRPr lang="en-150" dirty="0">
              <a:latin typeface="+mj-lt"/>
            </a:endParaRPr>
          </a:p>
          <a:p>
            <a:pPr lvl="2" algn="just"/>
            <a:r>
              <a:rPr lang="en-US" dirty="0">
                <a:latin typeface="+mj-lt"/>
              </a:rPr>
              <a:t>Support Vector Machines (SVM)</a:t>
            </a:r>
            <a:endParaRPr lang="en-150" dirty="0">
              <a:latin typeface="+mj-lt"/>
            </a:endParaRPr>
          </a:p>
          <a:p>
            <a:pPr lvl="2" algn="just"/>
            <a:r>
              <a:rPr lang="en-US" dirty="0">
                <a:latin typeface="+mj-lt"/>
              </a:rPr>
              <a:t>Random Forest (RF)</a:t>
            </a:r>
            <a:endParaRPr lang="en-150" dirty="0">
              <a:latin typeface="+mj-lt"/>
            </a:endParaRPr>
          </a:p>
          <a:p>
            <a:pPr lvl="2" algn="just"/>
            <a:r>
              <a:rPr lang="en-US" dirty="0">
                <a:latin typeface="+mj-lt"/>
              </a:rPr>
              <a:t>Convolutional Neural Networks (CNN)</a:t>
            </a:r>
            <a:endParaRPr lang="en-150" dirty="0">
              <a:latin typeface="+mj-lt"/>
            </a:endParaRPr>
          </a:p>
          <a:p>
            <a:pPr lvl="2" algn="just"/>
            <a:r>
              <a:rPr lang="en-US" dirty="0">
                <a:latin typeface="+mj-lt"/>
              </a:rPr>
              <a:t>Temporal Convolutional Networks (TCN)</a:t>
            </a:r>
            <a:endParaRPr lang="en-150" dirty="0">
              <a:latin typeface="+mj-lt"/>
            </a:endParaRPr>
          </a:p>
          <a:p>
            <a:pPr lvl="2" algn="just"/>
            <a:r>
              <a:rPr lang="de-DE" dirty="0">
                <a:latin typeface="+mj-lt"/>
              </a:rPr>
              <a:t>Convolutional–Transformer Hybrid Model</a:t>
            </a:r>
            <a:endParaRPr lang="en-150" dirty="0">
              <a:latin typeface="+mj-lt"/>
            </a:endParaRPr>
          </a:p>
          <a:p>
            <a:pPr lvl="2" algn="just"/>
            <a:r>
              <a:rPr lang="en-US" dirty="0">
                <a:latin typeface="+mj-lt"/>
              </a:rPr>
              <a:t>Time Series Transformer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The final summary and visualization cell.</a:t>
            </a:r>
            <a:endParaRPr lang="en-150" dirty="0">
              <a:latin typeface="+mj-lt"/>
            </a:endParaRPr>
          </a:p>
          <a:p>
            <a:pPr lvl="0" algn="just"/>
            <a:r>
              <a:rPr lang="en-US" dirty="0">
                <a:latin typeface="+mj-lt"/>
              </a:rPr>
              <a:t>Upon completion, the notebook provides: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Confusion matrices and classification reports for each model.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A consolidated table of accuracy and macro F1‑scores.</a:t>
            </a:r>
            <a:endParaRPr lang="en-150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Visual comparisons that show different designs, given the ultrasonic sensor data, are best suited for discriminating between humans and objects.</a:t>
            </a:r>
            <a:endParaRPr lang="en-15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0CCCE-F65F-C3B7-9056-01650B42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EC01-2308-F58F-DEE2-A1E1F350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5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FD9A-7EE3-04DA-23A6-C172BE9A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86" y="338930"/>
            <a:ext cx="8596668" cy="675992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Methods:</a:t>
            </a:r>
            <a:endParaRPr lang="en-150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71F4EA-E6B3-9C0A-EC97-4C1F02934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47" y="1014922"/>
            <a:ext cx="4408271" cy="45763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F275C-6E18-4E95-AF53-4101ACF0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839C2-AE73-90C2-DD3E-1BD6C495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EBB98F-A58D-A525-5F8E-191F919C9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3"/>
          <a:stretch>
            <a:fillRect/>
          </a:stretch>
        </p:blipFill>
        <p:spPr>
          <a:xfrm>
            <a:off x="4865732" y="887281"/>
            <a:ext cx="4408270" cy="44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1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5BD9-1791-67AE-530B-9D3AA5B64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86" y="334208"/>
            <a:ext cx="8596668" cy="55829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Methods:</a:t>
            </a:r>
            <a:endParaRPr lang="en-15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49B7BE-07E8-E10D-7F68-E416F45B8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"/>
          <a:stretch>
            <a:fillRect/>
          </a:stretch>
        </p:blipFill>
        <p:spPr>
          <a:xfrm>
            <a:off x="289328" y="1007519"/>
            <a:ext cx="4252839" cy="46434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A2A25-EA4B-00C0-B11F-ACD68A20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F8DE0-863B-7F15-E0BD-F7FFC58E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014801-1A09-E1BE-7091-79035D7B0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689" y="1007519"/>
            <a:ext cx="4534513" cy="46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39AF-87FA-AA54-8435-182F53F28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32" y="370810"/>
            <a:ext cx="8596668" cy="61261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Methods:</a:t>
            </a:r>
            <a:endParaRPr lang="en-15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7D86F1-AF32-46C2-0DEC-9DCD8CE58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523" y="964435"/>
            <a:ext cx="4776479" cy="45765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81470-E48E-4376-32CA-6F5AC7D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BDAFE-540A-F530-58F4-0959535B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F5916D-64DB-EF4D-7ECD-FEC46371A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/>
          <a:stretch>
            <a:fillRect/>
          </a:stretch>
        </p:blipFill>
        <p:spPr>
          <a:xfrm>
            <a:off x="269507" y="983428"/>
            <a:ext cx="4228016" cy="45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55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ED15-C3D2-70B8-1AF9-8FD61202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72" y="404464"/>
            <a:ext cx="8596668" cy="763433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Calculating </a:t>
            </a:r>
            <a:r>
              <a:rPr 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ccuracy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150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72F9E8-C9BF-1E02-F27C-3A77B17E7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52" y="1547021"/>
            <a:ext cx="8596312" cy="353002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36748-DDE7-5A09-8C6A-BBF7BE36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5532F-9F68-F683-1F93-C8CD4027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78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8DBF-E3A1-57B1-090F-53870075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04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150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16F06-3335-1426-35F5-7A05B99F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814D1-9E67-3AB7-D51F-87BB221A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20</a:t>
            </a:fld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4599ECC-EFDD-A7DE-42FF-F946B2D8B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9" y="1270000"/>
            <a:ext cx="2371807" cy="20313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5AACF4-5CF0-B82D-9F70-1C1B0A70F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148" y="1270000"/>
            <a:ext cx="2371807" cy="20313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9E4858-5A2F-AFE2-E98A-1ADB33D03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587" y="1270000"/>
            <a:ext cx="2371807" cy="20313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9FCA3C9-0918-5BF8-C3A7-D0FCFB286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8" y="3911931"/>
            <a:ext cx="2371808" cy="20313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54E57CF-4CCC-5CDC-B6E3-086C6FB800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796" y="3870675"/>
            <a:ext cx="2534510" cy="21706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BB7B5A-E0D4-CAD1-4559-9CD6486CF0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70674"/>
            <a:ext cx="2534511" cy="217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56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57A5-2932-0611-8C0B-245A9A92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53" y="294237"/>
            <a:ext cx="8596668" cy="63072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15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A617FA-7DE9-AC25-B02D-903E89F0D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53" y="956376"/>
            <a:ext cx="3163808" cy="252678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FEC28-9BD4-225D-070F-E88C644E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6747C-602B-39B1-4FBD-F9E2C439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56DF2-0172-69A5-6074-9D3BB1414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187" y="902215"/>
            <a:ext cx="3163808" cy="2526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DC143D-F94F-BD77-AA82-3CCF90DF7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59" y="3683105"/>
            <a:ext cx="4417996" cy="20141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355581-A0F4-A778-CCF3-1964739109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90" y="3831860"/>
            <a:ext cx="4102831" cy="17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60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D903-A117-41B9-AFD5-4919208F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3105"/>
            <a:ext cx="8596668" cy="476816"/>
          </a:xfrm>
        </p:spPr>
        <p:txBody>
          <a:bodyPr>
            <a:noAutofit/>
          </a:bodyPr>
          <a:lstStyle/>
          <a:p>
            <a:r>
              <a:rPr 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150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E627-FE4D-EA3B-4577-54CD421D6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74341"/>
            <a:ext cx="8596668" cy="535144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This project improves human–object detection using the </a:t>
            </a:r>
            <a:r>
              <a:rPr lang="en-US" b="1" dirty="0"/>
              <a:t>FIUS ultrasonic sensor</a:t>
            </a:r>
            <a:r>
              <a:rPr lang="en-US" dirty="0"/>
              <a:t> with optimized signal processing and machine learning.</a:t>
            </a:r>
          </a:p>
          <a:p>
            <a:pPr algn="just"/>
            <a:r>
              <a:rPr lang="en-US" dirty="0"/>
              <a:t>Dataset size significantly influences model performance, especially for deep learning models.</a:t>
            </a:r>
          </a:p>
          <a:p>
            <a:pPr algn="just"/>
            <a:r>
              <a:rPr lang="en-US" dirty="0"/>
              <a:t>Random Forest provides a strong and stable baseline, achieving up to 99.9% accuracy across different dataset sizes.</a:t>
            </a:r>
          </a:p>
          <a:p>
            <a:pPr algn="just"/>
            <a:r>
              <a:rPr lang="en-US" dirty="0"/>
              <a:t>Deep learning models improve substantially with larger datasets, showing a strong performance gain when scaling from 3,000 to 30,000 samples.</a:t>
            </a:r>
          </a:p>
          <a:p>
            <a:pPr algn="just"/>
            <a:r>
              <a:rPr lang="en-US" dirty="0"/>
              <a:t>The Temporal Convolutional Network (TCN) performed best among neural networks by effectively learning temporal patterns in high-dimensional (25,000-feature) signals.</a:t>
            </a:r>
          </a:p>
          <a:p>
            <a:pPr algn="just"/>
            <a:r>
              <a:rPr lang="en-US" dirty="0"/>
              <a:t>TCN achieved 99.7% accuracy with the largest dataset due to its dilated causal convolution structure.</a:t>
            </a:r>
          </a:p>
          <a:p>
            <a:pPr algn="just"/>
            <a:r>
              <a:rPr lang="en-US" dirty="0"/>
              <a:t>Support Vector Machines (SVM) showed limited scalability and performance plateau in this high-dimensional task.</a:t>
            </a:r>
          </a:p>
          <a:p>
            <a:pPr algn="just"/>
            <a:r>
              <a:rPr lang="en-US" dirty="0"/>
              <a:t>The system shows strong potential for applications in robotics, automation, security, and smart environments.</a:t>
            </a:r>
          </a:p>
          <a:p>
            <a:pPr algn="just"/>
            <a:r>
              <a:rPr lang="en-US" dirty="0"/>
              <a:t>Future work includes deep learning improvements, adaptive models, and multi-sensor integration.</a:t>
            </a:r>
            <a:endParaRPr lang="en-15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B003D-2480-6196-8196-A764377D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30714-7B27-41BF-E0B7-CB378E2F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74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D4CC-5B6E-538C-3471-FDAC76596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86100" lvl="7" indent="0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PK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3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150" sz="3600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B5B30-C093-C97A-1725-4FE4B4FA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Frankfurt University of Applied Sciences 2025/26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E4EC0-721B-F7D3-30A9-5FA0DD83C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19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1385</TotalTime>
  <Words>1722</Words>
  <Application>Microsoft Office PowerPoint</Application>
  <PresentationFormat>Widescreen</PresentationFormat>
  <Paragraphs>193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Times New Roman</vt:lpstr>
      <vt:lpstr>Wingdings 3</vt:lpstr>
      <vt:lpstr>Facet</vt:lpstr>
      <vt:lpstr>Machine Learning-Based Vertical Acoustic Sensing for Human-Object Differentiation</vt:lpstr>
      <vt:lpstr>Table of Contents:</vt:lpstr>
      <vt:lpstr>Introduction:</vt:lpstr>
      <vt:lpstr>Background:</vt:lpstr>
      <vt:lpstr>Methodology:</vt:lpstr>
      <vt:lpstr>Hardware Configuration:</vt:lpstr>
      <vt:lpstr>Machine Learning Models:</vt:lpstr>
      <vt:lpstr>Support Vector Machines (SVM):</vt:lpstr>
      <vt:lpstr>Random Forest (RF):</vt:lpstr>
      <vt:lpstr>Convolutional Neural Networks (CNN): </vt:lpstr>
      <vt:lpstr>Temporal Convolutional Networks (TCN): </vt:lpstr>
      <vt:lpstr>Convolutional–Transformer Hybrid Model: </vt:lpstr>
      <vt:lpstr>Time Series Transformer: </vt:lpstr>
      <vt:lpstr>Data Collection &amp; Dataset Size:</vt:lpstr>
      <vt:lpstr>Software Implementation:</vt:lpstr>
      <vt:lpstr>Implementation Methods:</vt:lpstr>
      <vt:lpstr>Implementation Methods:</vt:lpstr>
      <vt:lpstr>Implementation Methods:</vt:lpstr>
      <vt:lpstr>Implementation Calculating Accuracy:</vt:lpstr>
      <vt:lpstr>Results:</vt:lpstr>
      <vt:lpstr>Results: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ML22/23-15 Approve Prediction of Multisequence Learning</dc:title>
  <dc:creator>Naila</dc:creator>
  <cp:lastModifiedBy>Saad Jamil</cp:lastModifiedBy>
  <cp:revision>154</cp:revision>
  <dcterms:created xsi:type="dcterms:W3CDTF">2023-03-27T19:52:01Z</dcterms:created>
  <dcterms:modified xsi:type="dcterms:W3CDTF">2026-03-19T20:43:29Z</dcterms:modified>
</cp:coreProperties>
</file>